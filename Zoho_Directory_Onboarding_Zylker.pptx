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11480"/>
            <a:ext cx="6400800" cy="6035040"/>
          </a:xfrm>
          <a:prstGeom prst="rect">
            <a:avLst/>
          </a:prstGeom>
          <a:solidFill>
            <a:srgbClr val="FFFFFF"/>
          </a:solidFill>
          <a:ln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57607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E2850"/>
                </a:solidFill>
              </a:defRPr>
            </a:pPr>
            <a:r>
              <a:t>Onboarding New Users to Zoho Directory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32323C"/>
                </a:solidFill>
              </a:defRPr>
            </a:pPr>
            <a:r>
              <a:t>Concept: Watch and Learn from Zylker Organization</a:t>
            </a:r>
          </a:p>
          <a:p>
            <a:pPr>
              <a:spcAft>
                <a:spcPts val="1200"/>
              </a:spcAft>
              <a:defRPr sz="2100">
                <a:solidFill>
                  <a:srgbClr val="32323C"/>
                </a:solidFill>
              </a:defRPr>
            </a:pPr>
            <a:r>
              <a:t>A real-world scenario from sign-in to delegated administration</a:t>
            </a:r>
          </a:p>
        </p:txBody>
      </p:sp>
      <p:pic>
        <p:nvPicPr>
          <p:cNvPr id="5" name="Picture 4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411480"/>
            <a:ext cx="4709160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11480"/>
            <a:ext cx="6400800" cy="6035040"/>
          </a:xfrm>
          <a:prstGeom prst="rect">
            <a:avLst/>
          </a:prstGeom>
          <a:solidFill>
            <a:srgbClr val="FFFFFF"/>
          </a:solidFill>
          <a:ln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57607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E2850"/>
                </a:solidFill>
              </a:defRPr>
            </a:pPr>
            <a:r>
              <a:t>Meet Zylker Organization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32323C"/>
                </a:solidFill>
              </a:defRPr>
            </a:pPr>
            <a:r>
              <a:t>Growth-stage IT product company with ~150 employees</a:t>
            </a:r>
          </a:p>
          <a:p>
            <a:pPr>
              <a:spcAft>
                <a:spcPts val="1200"/>
              </a:spcAft>
              <a:defRPr sz="2100">
                <a:solidFill>
                  <a:srgbClr val="32323C"/>
                </a:solidFill>
              </a:defRPr>
            </a:pPr>
            <a:r>
              <a:t>Offices in Bengaluru and Chennai, plus a lean US remote team</a:t>
            </a:r>
          </a:p>
          <a:p>
            <a:pPr>
              <a:spcAft>
                <a:spcPts val="1200"/>
              </a:spcAft>
              <a:defRPr sz="2100">
                <a:solidFill>
                  <a:srgbClr val="32323C"/>
                </a:solidFill>
              </a:defRPr>
            </a:pPr>
            <a:r>
              <a:t>Builds SaaS products for both B2B and B2C markets</a:t>
            </a:r>
          </a:p>
        </p:txBody>
      </p:sp>
      <p:pic>
        <p:nvPicPr>
          <p:cNvPr id="5" name="Picture 4" descr="zyl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411480"/>
            <a:ext cx="4709160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11480"/>
            <a:ext cx="6400800" cy="6035040"/>
          </a:xfrm>
          <a:prstGeom prst="rect">
            <a:avLst/>
          </a:prstGeom>
          <a:solidFill>
            <a:srgbClr val="FFFFFF"/>
          </a:solidFill>
          <a:ln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57607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E2850"/>
                </a:solidFill>
              </a:defRPr>
            </a:pPr>
            <a:r>
              <a:t>Why Zylker Needed Zoho Directory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32323C"/>
                </a:solidFill>
              </a:defRPr>
            </a:pPr>
            <a:r>
              <a:t>20+ apps in daily use: Zoho CRM, Jira, Slack, GitHub, Google Workspace</a:t>
            </a:r>
          </a:p>
          <a:p>
            <a:pPr>
              <a:spcAft>
                <a:spcPts val="1200"/>
              </a:spcAft>
              <a:defRPr sz="2100">
                <a:solidFill>
                  <a:srgbClr val="32323C"/>
                </a:solidFill>
              </a:defRPr>
            </a:pPr>
            <a:r>
              <a:t>Manual provisioning and deprovisioning consumed IT bandwidth</a:t>
            </a:r>
          </a:p>
          <a:p>
            <a:pPr>
              <a:spcAft>
                <a:spcPts val="1200"/>
              </a:spcAft>
              <a:defRPr sz="2100">
                <a:solidFill>
                  <a:srgbClr val="32323C"/>
                </a:solidFill>
              </a:defRPr>
            </a:pPr>
            <a:r>
              <a:t>MFA was not enforced consistently across the organization</a:t>
            </a:r>
          </a:p>
          <a:p>
            <a:pPr>
              <a:spcAft>
                <a:spcPts val="1200"/>
              </a:spcAft>
              <a:defRPr sz="2100">
                <a:solidFill>
                  <a:srgbClr val="32323C"/>
                </a:solidFill>
              </a:defRPr>
            </a:pPr>
            <a:r>
              <a:t>A former intern retained production Jira access for 2 weeks</a:t>
            </a:r>
          </a:p>
        </p:txBody>
      </p:sp>
      <p:pic>
        <p:nvPicPr>
          <p:cNvPr id="5" name="Picture 4" descr="challe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411480"/>
            <a:ext cx="4709160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11480"/>
            <a:ext cx="6400800" cy="6035040"/>
          </a:xfrm>
          <a:prstGeom prst="rect">
            <a:avLst/>
          </a:prstGeom>
          <a:solidFill>
            <a:srgbClr val="FFFFFF"/>
          </a:solidFill>
          <a:ln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57607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E2850"/>
                </a:solidFill>
              </a:defRPr>
            </a:pPr>
            <a:r>
              <a:t>Step 1: Sign-in / Sign-up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32323C"/>
                </a:solidFill>
              </a:defRPr>
            </a:pPr>
            <a:r>
              <a:t>Amelia logs in with existing Zoho credentials</a:t>
            </a:r>
          </a:p>
          <a:p>
            <a:pPr>
              <a:spcAft>
                <a:spcPts val="1200"/>
              </a:spcAft>
              <a:defRPr sz="2100">
                <a:solidFill>
                  <a:srgbClr val="32323C"/>
                </a:solidFill>
              </a:defRPr>
            </a:pPr>
            <a:r>
              <a:t>New users can sign up at www.directory.zoho.com</a:t>
            </a:r>
          </a:p>
          <a:p>
            <a:pPr>
              <a:spcAft>
                <a:spcPts val="1200"/>
              </a:spcAft>
              <a:defRPr sz="2100">
                <a:solidFill>
                  <a:srgbClr val="32323C"/>
                </a:solidFill>
              </a:defRPr>
            </a:pPr>
            <a:r>
              <a:t>Email verification is required before most admin actions</a:t>
            </a:r>
          </a:p>
          <a:p>
            <a:pPr>
              <a:spcAft>
                <a:spcPts val="1200"/>
              </a:spcAft>
              <a:defRPr sz="2100">
                <a:solidFill>
                  <a:srgbClr val="32323C"/>
                </a:solidFill>
              </a:defRPr>
            </a:pPr>
            <a:r>
              <a:t>Then open Admin Panel to start setup</a:t>
            </a:r>
          </a:p>
        </p:txBody>
      </p:sp>
      <p:pic>
        <p:nvPicPr>
          <p:cNvPr id="5" name="Picture 4" descr="sign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411480"/>
            <a:ext cx="4709160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11480"/>
            <a:ext cx="6400800" cy="6035040"/>
          </a:xfrm>
          <a:prstGeom prst="rect">
            <a:avLst/>
          </a:prstGeom>
          <a:solidFill>
            <a:srgbClr val="FFFFFF"/>
          </a:solidFill>
          <a:ln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57607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E2850"/>
                </a:solidFill>
              </a:defRPr>
            </a:pPr>
            <a:r>
              <a:t>Step 2: Manage Your Apps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32323C"/>
                </a:solidFill>
              </a:defRPr>
            </a:pPr>
            <a:r>
              <a:t>Configure app access before onboarding employees</a:t>
            </a:r>
          </a:p>
          <a:p>
            <a:pPr>
              <a:spcAft>
                <a:spcPts val="1200"/>
              </a:spcAft>
              <a:defRPr sz="2100">
                <a:solidFill>
                  <a:srgbClr val="32323C"/>
                </a:solidFill>
              </a:defRPr>
            </a:pPr>
            <a:r>
              <a:t>Three app types: Zoho apps, Marketplace apps, Non-directory apps</a:t>
            </a:r>
          </a:p>
          <a:p>
            <a:pPr>
              <a:spcAft>
                <a:spcPts val="1200"/>
              </a:spcAft>
              <a:defRPr sz="2100">
                <a:solidFill>
                  <a:srgbClr val="32323C"/>
                </a:solidFill>
              </a:defRPr>
            </a:pPr>
            <a:r>
              <a:t>Business category auto-adds relevant Zoho apps</a:t>
            </a:r>
          </a:p>
          <a:p>
            <a:pPr>
              <a:spcAft>
                <a:spcPts val="1200"/>
              </a:spcAft>
              <a:defRPr sz="2100">
                <a:solidFill>
                  <a:srgbClr val="32323C"/>
                </a:solidFill>
              </a:defRPr>
            </a:pPr>
            <a:r>
              <a:t>Default apps include Meeting, WorkDrive, Cliq, and Notebook</a:t>
            </a:r>
          </a:p>
        </p:txBody>
      </p:sp>
      <p:pic>
        <p:nvPicPr>
          <p:cNvPr id="5" name="Picture 4" descr="ap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411480"/>
            <a:ext cx="4709160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11480"/>
            <a:ext cx="6400800" cy="6035040"/>
          </a:xfrm>
          <a:prstGeom prst="rect">
            <a:avLst/>
          </a:prstGeom>
          <a:solidFill>
            <a:srgbClr val="FFFFFF"/>
          </a:solidFill>
          <a:ln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57607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E2850"/>
                </a:solidFill>
              </a:defRPr>
            </a:pPr>
            <a:r>
              <a:t>Step 3: Create 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32323C"/>
                </a:solidFill>
              </a:defRPr>
            </a:pPr>
            <a:r>
              <a:t>Departments mirror organization structure</a:t>
            </a:r>
          </a:p>
          <a:p>
            <a:pPr>
              <a:spcAft>
                <a:spcPts val="1200"/>
              </a:spcAft>
              <a:defRPr sz="2100">
                <a:solidFill>
                  <a:srgbClr val="32323C"/>
                </a:solidFill>
              </a:defRPr>
            </a:pPr>
            <a:r>
              <a:t>Collaboration Groups support cross-functional needs</a:t>
            </a:r>
          </a:p>
          <a:p>
            <a:pPr>
              <a:spcAft>
                <a:spcPts val="1200"/>
              </a:spcAft>
              <a:defRPr sz="2100">
                <a:solidFill>
                  <a:srgbClr val="32323C"/>
                </a:solidFill>
              </a:defRPr>
            </a:pPr>
            <a:r>
              <a:t>Smart Groups auto-add users based on criteria</a:t>
            </a:r>
          </a:p>
          <a:p>
            <a:pPr>
              <a:spcAft>
                <a:spcPts val="1200"/>
              </a:spcAft>
              <a:defRPr sz="2100">
                <a:solidFill>
                  <a:srgbClr val="32323C"/>
                </a:solidFill>
              </a:defRPr>
            </a:pPr>
            <a:r>
              <a:t>Group-first design simplifies onboarding at scale</a:t>
            </a:r>
          </a:p>
        </p:txBody>
      </p:sp>
      <p:pic>
        <p:nvPicPr>
          <p:cNvPr id="5" name="Picture 4" descr="grou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411480"/>
            <a:ext cx="4709160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11480"/>
            <a:ext cx="6400800" cy="6035040"/>
          </a:xfrm>
          <a:prstGeom prst="rect">
            <a:avLst/>
          </a:prstGeom>
          <a:solidFill>
            <a:srgbClr val="FFFFFF"/>
          </a:solidFill>
          <a:ln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57607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E2850"/>
                </a:solidFill>
              </a:defRPr>
            </a:pPr>
            <a:r>
              <a:t>Step 4: Configure Security Settings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32323C"/>
                </a:solidFill>
              </a:defRPr>
            </a:pPr>
            <a:r>
              <a:t>Conditional Access Policy controls context-based login</a:t>
            </a:r>
          </a:p>
          <a:p>
            <a:pPr>
              <a:spcAft>
                <a:spcPts val="1200"/>
              </a:spcAft>
              <a:defRPr sz="2100">
                <a:solidFill>
                  <a:srgbClr val="32323C"/>
                </a:solidFill>
              </a:defRPr>
            </a:pPr>
            <a:r>
              <a:t>Routing Policy enforces authentication methods</a:t>
            </a:r>
          </a:p>
          <a:p>
            <a:pPr>
              <a:spcAft>
                <a:spcPts val="1200"/>
              </a:spcAft>
              <a:defRPr sz="2100">
                <a:solidFill>
                  <a:srgbClr val="32323C"/>
                </a:solidFill>
              </a:defRPr>
            </a:pPr>
            <a:r>
              <a:t>BYOK enables customer-managed encryption key usage</a:t>
            </a:r>
          </a:p>
          <a:p>
            <a:pPr>
              <a:spcAft>
                <a:spcPts val="1200"/>
              </a:spcAft>
              <a:defRPr sz="2100">
                <a:solidFill>
                  <a:srgbClr val="32323C"/>
                </a:solidFill>
              </a:defRPr>
            </a:pPr>
            <a:r>
              <a:t>Identity Providers and Security Policies harden access</a:t>
            </a:r>
          </a:p>
        </p:txBody>
      </p:sp>
      <p:pic>
        <p:nvPicPr>
          <p:cNvPr id="5" name="Picture 4" descr="secu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411480"/>
            <a:ext cx="4709160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11480"/>
            <a:ext cx="6400800" cy="6035040"/>
          </a:xfrm>
          <a:prstGeom prst="rect">
            <a:avLst/>
          </a:prstGeom>
          <a:solidFill>
            <a:srgbClr val="FFFFFF"/>
          </a:solidFill>
          <a:ln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57607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E2850"/>
                </a:solidFill>
              </a:defRPr>
            </a:pPr>
            <a:r>
              <a:t>Step 5: Set Up Conditional 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32323C"/>
                </a:solidFill>
              </a:defRPr>
            </a:pPr>
            <a:r>
              <a:t>Assign apps automatically based on group and role conditions</a:t>
            </a:r>
          </a:p>
          <a:p>
            <a:pPr>
              <a:spcAft>
                <a:spcPts val="1200"/>
              </a:spcAft>
              <a:defRPr sz="2100">
                <a:solidFill>
                  <a:srgbClr val="32323C"/>
                </a:solidFill>
              </a:defRPr>
            </a:pPr>
            <a:r>
              <a:t>Example: group members get Zoho Mail users, moderators get admin</a:t>
            </a:r>
          </a:p>
          <a:p>
            <a:pPr>
              <a:spcAft>
                <a:spcPts val="1200"/>
              </a:spcAft>
              <a:defRPr sz="2100">
                <a:solidFill>
                  <a:srgbClr val="32323C"/>
                </a:solidFill>
              </a:defRPr>
            </a:pPr>
            <a:r>
              <a:t>New group additions inherit app and policy assignments instantly</a:t>
            </a:r>
          </a:p>
          <a:p>
            <a:pPr>
              <a:spcAft>
                <a:spcPts val="1200"/>
              </a:spcAft>
              <a:defRPr sz="2100">
                <a:solidFill>
                  <a:srgbClr val="32323C"/>
                </a:solidFill>
              </a:defRPr>
            </a:pPr>
            <a:r>
              <a:t>Reduces repetitive manual assignment work</a:t>
            </a:r>
          </a:p>
        </p:txBody>
      </p:sp>
      <p:pic>
        <p:nvPicPr>
          <p:cNvPr id="5" name="Picture 4" descr="condit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411480"/>
            <a:ext cx="4709160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11480"/>
            <a:ext cx="6400800" cy="6035040"/>
          </a:xfrm>
          <a:prstGeom prst="rect">
            <a:avLst/>
          </a:prstGeom>
          <a:solidFill>
            <a:srgbClr val="FFFFFF"/>
          </a:solidFill>
          <a:ln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57607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E2850"/>
                </a:solidFill>
              </a:defRPr>
            </a:pPr>
            <a:r>
              <a:t>Step 6: Onboard Users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32323C"/>
                </a:solidFill>
              </a:defRPr>
            </a:pPr>
            <a:r>
              <a:t>Preferred migration path: sync from AD server</a:t>
            </a:r>
          </a:p>
          <a:p>
            <a:pPr>
              <a:spcAft>
                <a:spcPts val="1200"/>
              </a:spcAft>
              <a:defRPr sz="2100">
                <a:solidFill>
                  <a:srgbClr val="32323C"/>
                </a:solidFill>
              </a:defRPr>
            </a:pPr>
            <a:r>
              <a:t>Alternative path: import users via CSV or VCF</a:t>
            </a:r>
          </a:p>
          <a:p>
            <a:pPr>
              <a:spcAft>
                <a:spcPts val="1200"/>
              </a:spcAft>
              <a:defRPr sz="2100">
                <a:solidFill>
                  <a:srgbClr val="32323C"/>
                </a:solidFill>
              </a:defRPr>
            </a:pPr>
            <a:r>
              <a:t>First SaaS deployment: manually add users in Users tab</a:t>
            </a:r>
          </a:p>
          <a:p>
            <a:pPr>
              <a:spcAft>
                <a:spcPts val="1200"/>
              </a:spcAft>
              <a:defRPr sz="2100">
                <a:solidFill>
                  <a:srgbClr val="32323C"/>
                </a:solidFill>
              </a:defRPr>
            </a:pPr>
            <a:r>
              <a:t>Users receive apps and policies as soon as they join groups</a:t>
            </a:r>
          </a:p>
        </p:txBody>
      </p:sp>
      <p:pic>
        <p:nvPicPr>
          <p:cNvPr id="5" name="Picture 4" descr="on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411480"/>
            <a:ext cx="4709160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11480"/>
            <a:ext cx="6400800" cy="6035040"/>
          </a:xfrm>
          <a:prstGeom prst="rect">
            <a:avLst/>
          </a:prstGeom>
          <a:solidFill>
            <a:srgbClr val="FFFFFF"/>
          </a:solidFill>
          <a:ln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57607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E2850"/>
                </a:solidFill>
              </a:defRPr>
            </a:pPr>
            <a:r>
              <a:t>Step 7: Delegate Administration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32323C"/>
                </a:solidFill>
              </a:defRPr>
            </a:pPr>
            <a:r>
              <a:t>Organization Admins manage users, groups, and policies</a:t>
            </a:r>
          </a:p>
          <a:p>
            <a:pPr>
              <a:spcAft>
                <a:spcPts val="1200"/>
              </a:spcAft>
              <a:defRPr sz="2100">
                <a:solidFill>
                  <a:srgbClr val="32323C"/>
                </a:solidFill>
              </a:defRPr>
            </a:pPr>
            <a:r>
              <a:t>Service Admins manage specific applications</a:t>
            </a:r>
          </a:p>
          <a:p>
            <a:pPr>
              <a:spcAft>
                <a:spcPts val="1200"/>
              </a:spcAft>
              <a:defRPr sz="2100">
                <a:solidFill>
                  <a:srgbClr val="32323C"/>
                </a:solidFill>
              </a:defRPr>
            </a:pPr>
            <a:r>
              <a:t>Custom Roles allow tailored permission sets</a:t>
            </a:r>
          </a:p>
          <a:p>
            <a:pPr>
              <a:spcAft>
                <a:spcPts val="1200"/>
              </a:spcAft>
              <a:defRPr sz="2100">
                <a:solidFill>
                  <a:srgbClr val="32323C"/>
                </a:solidFill>
              </a:defRPr>
            </a:pPr>
            <a:r>
              <a:t>Keeps governance scalable as Zylker grows</a:t>
            </a:r>
          </a:p>
        </p:txBody>
      </p:sp>
      <p:pic>
        <p:nvPicPr>
          <p:cNvPr id="5" name="Picture 4" descr="deleg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411480"/>
            <a:ext cx="4709160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11480"/>
            <a:ext cx="6400800" cy="6035040"/>
          </a:xfrm>
          <a:prstGeom prst="rect">
            <a:avLst/>
          </a:prstGeom>
          <a:solidFill>
            <a:srgbClr val="FFFFFF"/>
          </a:solidFill>
          <a:ln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57607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E2850"/>
                </a:solidFill>
              </a:defRPr>
            </a:pPr>
            <a:r>
              <a:t>Zylker’s Outcome with Zoho Directory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32323C"/>
                </a:solidFill>
              </a:defRPr>
            </a:pPr>
            <a:r>
              <a:t>Centralized identity and access management</a:t>
            </a:r>
          </a:p>
          <a:p>
            <a:pPr>
              <a:spcAft>
                <a:spcPts val="1200"/>
              </a:spcAft>
              <a:defRPr sz="2100">
                <a:solidFill>
                  <a:srgbClr val="32323C"/>
                </a:solidFill>
              </a:defRPr>
            </a:pPr>
            <a:r>
              <a:t>Faster, policy-driven onboarding and offboarding</a:t>
            </a:r>
          </a:p>
          <a:p>
            <a:pPr>
              <a:spcAft>
                <a:spcPts val="1200"/>
              </a:spcAft>
              <a:defRPr sz="2100">
                <a:solidFill>
                  <a:srgbClr val="32323C"/>
                </a:solidFill>
              </a:defRPr>
            </a:pPr>
            <a:r>
              <a:t>Reduced security risk with enforced controls</a:t>
            </a:r>
          </a:p>
          <a:p>
            <a:pPr>
              <a:spcAft>
                <a:spcPts val="1200"/>
              </a:spcAft>
              <a:defRPr sz="2100">
                <a:solidFill>
                  <a:srgbClr val="32323C"/>
                </a:solidFill>
              </a:defRPr>
            </a:pPr>
            <a:r>
              <a:t>IT team shifts from reactive fixes to strategic work</a:t>
            </a:r>
          </a:p>
        </p:txBody>
      </p:sp>
      <p:pic>
        <p:nvPicPr>
          <p:cNvPr id="5" name="Picture 4" descr="outc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411480"/>
            <a:ext cx="4709160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11480"/>
            <a:ext cx="6400800" cy="6035040"/>
          </a:xfrm>
          <a:prstGeom prst="rect">
            <a:avLst/>
          </a:prstGeom>
          <a:solidFill>
            <a:srgbClr val="FFFFFF"/>
          </a:solidFill>
          <a:ln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57607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E2850"/>
                </a:solidFill>
              </a:defRPr>
            </a:pPr>
            <a:r>
              <a:t>Wrap-up: Your 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32323C"/>
                </a:solidFill>
              </a:defRPr>
            </a:pPr>
            <a:r>
              <a:t>Use Zylker’s blueprint to set up your own organization</a:t>
            </a:r>
          </a:p>
          <a:p>
            <a:pPr>
              <a:spcAft>
                <a:spcPts val="1200"/>
              </a:spcAft>
              <a:defRPr sz="2100">
                <a:solidFill>
                  <a:srgbClr val="32323C"/>
                </a:solidFill>
              </a:defRPr>
            </a:pPr>
            <a:r>
              <a:t>Start with apps, groups, and security before onboarding users</a:t>
            </a:r>
          </a:p>
          <a:p>
            <a:pPr>
              <a:spcAft>
                <a:spcPts val="1200"/>
              </a:spcAft>
              <a:defRPr sz="2100">
                <a:solidFill>
                  <a:srgbClr val="32323C"/>
                </a:solidFill>
              </a:defRPr>
            </a:pPr>
            <a:r>
              <a:t>Automate assignment and delegate admin to sustain scale</a:t>
            </a:r>
          </a:p>
          <a:p>
            <a:pPr>
              <a:spcAft>
                <a:spcPts val="1200"/>
              </a:spcAft>
              <a:defRPr sz="2100">
                <a:solidFill>
                  <a:srgbClr val="32323C"/>
                </a:solidFill>
              </a:defRPr>
            </a:pPr>
            <a:r>
              <a:t>Build secure onboarding from day one with Zoho Directory</a:t>
            </a:r>
          </a:p>
        </p:txBody>
      </p:sp>
      <p:pic>
        <p:nvPicPr>
          <p:cNvPr id="5" name="Picture 4" descr="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411480"/>
            <a:ext cx="4709160" cy="60350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